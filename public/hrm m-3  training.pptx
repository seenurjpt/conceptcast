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6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E8E2D-15FE-4C97-A2B9-D276078F208D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7FB09-0D6F-42E4-A4F0-7FD1737DE2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7FB09-0D6F-42E4-A4F0-7FD1737DE2F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1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7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5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3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5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3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0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6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0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809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1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9518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49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0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97C29-5846-4069-81BF-A3D3E764CC8B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8705FC-95F9-41A5-A196-2ACFE66A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8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CHAPTER 1</a:t>
            </a:r>
            <a:br>
              <a:rPr lang="en-US" dirty="0"/>
            </a:br>
            <a:r>
              <a:rPr lang="en-US" dirty="0"/>
              <a:t>Training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MODULE 3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Meaning of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According to Edwin Flippo , “Training is the act of increasing the skill of an employee for doing a particular job”.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Dale S. Beach define training as “ the organised procedure by which people learn knowledge and /or skill for a definite purpose”.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Training bridges the difference between job requirements and employee’s present specification 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5720" y="928670"/>
          <a:ext cx="8553480" cy="4286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5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860">
                <a:tc>
                  <a:txBody>
                    <a:bodyPr/>
                    <a:lstStyle/>
                    <a:p>
                      <a:r>
                        <a:rPr lang="en-US" dirty="0"/>
                        <a:t>Content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skill and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Managerial and</a:t>
                      </a:r>
                      <a:r>
                        <a:rPr lang="en-US" baseline="0" dirty="0"/>
                        <a:t> behavioral skills and knowledge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60">
                <a:tc>
                  <a:txBody>
                    <a:bodyPr/>
                    <a:lstStyle/>
                    <a:p>
                      <a:r>
                        <a:rPr lang="en-US" dirty="0"/>
                        <a:t>Purpose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  <a:r>
                        <a:rPr lang="en-US" baseline="0" dirty="0"/>
                        <a:t> job related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Conceptual</a:t>
                      </a:r>
                      <a:r>
                        <a:rPr lang="en-US" baseline="0" dirty="0"/>
                        <a:t> and general knowledge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40">
                <a:tc>
                  <a:txBody>
                    <a:bodyPr/>
                    <a:lstStyle/>
                    <a:p>
                      <a:r>
                        <a:rPr lang="en-US" dirty="0"/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  <a:r>
                        <a:rPr lang="en-US" baseline="0" dirty="0"/>
                        <a:t> term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860">
                <a:tc>
                  <a:txBody>
                    <a:bodyPr/>
                    <a:lstStyle/>
                    <a:p>
                      <a:r>
                        <a:rPr lang="en-US" dirty="0"/>
                        <a:t>For whom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technical and </a:t>
                      </a:r>
                    </a:p>
                    <a:p>
                      <a:r>
                        <a:rPr lang="en-US" dirty="0"/>
                        <a:t>non- managerial personnel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</a:t>
                      </a:r>
                      <a:r>
                        <a:rPr lang="en-US" baseline="0" dirty="0"/>
                        <a:t> for managerial personnel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Benefits of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7298"/>
            <a:ext cx="8686800" cy="528641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Benefits to organisation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Leads to improved profitability and / or more positive attitude toward profit orientation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Improves the job knowledge and skills at all levels of the organisation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Improves the morale of the workforce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Helps keep cost down in many areas  e.g. production, personnel, administration 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Improves labour management relations and increase productivity and quality of work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Creates an appropriate climate for growth , communication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Helps employees adjust to change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Develop a sense of responsibility to the organisation for being competent and knowledgeable 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Aids in handling conflict , thereby helping to prevent stress and tension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dirty="0">
                <a:solidFill>
                  <a:schemeClr val="tx1"/>
                </a:solidFill>
              </a:rPr>
              <a:t>Aids  in developing leadership skill , motivation ,loyalty , better attitude and other aspects that successful workers and managers usually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Benefits to individual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01811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Helps the individual in making better decision and effective problem solving 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</a:rPr>
              <a:t>Through training and development , motivational variables of recognition, achievement ,growth , responsibility and advancement are internalised and operationalised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</a:rPr>
              <a:t>Aids in encouraging and achieving 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      self – development and self- confidence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>
                <a:solidFill>
                  <a:schemeClr val="tx1"/>
                </a:solidFill>
              </a:rPr>
              <a:t>Helps a person handle stress, tension , frustration and conflict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>
                <a:solidFill>
                  <a:schemeClr val="tx1"/>
                </a:solidFill>
              </a:rPr>
              <a:t>Provide information for improving leadership knowledge communication skills and attitude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tx1"/>
                </a:solidFill>
              </a:rPr>
              <a:t>Increases job satisfaction and recognition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>
                <a:solidFill>
                  <a:schemeClr val="tx1"/>
                </a:solidFill>
              </a:rPr>
              <a:t>Helps eliminate fear in attempting new tasks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Benefits in human relations , intra  and intergroup relations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Improves communication between groups and individual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Improves interpersonal skills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Improves morale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Builds cohesiveness in groups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provide a climate for learning , growth and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    co-ordination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Makes the organisation a better place to work and live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Provides information on equal opportunity and affirmative action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Need for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To match the employee specification with the job requirement and organisational needs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Organisational viability and the transformation process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Technological advances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Organisational complexity 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Human relations 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Change in the job assignment 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30383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To prepare the employees both new and old t meet the present as well as the changing requirements of the job and the organization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To prevent obsolescence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To promote individual and collective morale ,a sense of responsibility ,co-operative attitude and good relationship 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To prepare employees for higher level task and to develop potentialities of people for the next level job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To impart the new entrants the basic knowledge and skill  they need for an intelligent performance of definite job</a:t>
            </a:r>
          </a:p>
          <a:p>
            <a:pPr marL="514350" indent="-514350">
              <a:buFont typeface="+mj-lt"/>
              <a:buAutoNum type="alphaUcPeriod"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 in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Need assessment </a:t>
            </a:r>
          </a:p>
          <a:p>
            <a:r>
              <a:rPr lang="en-US" b="1" dirty="0">
                <a:solidFill>
                  <a:schemeClr val="tx1"/>
                </a:solidFill>
              </a:rPr>
              <a:t>Program design </a:t>
            </a:r>
          </a:p>
          <a:p>
            <a:r>
              <a:rPr lang="en-US" b="1" dirty="0">
                <a:solidFill>
                  <a:schemeClr val="tx1"/>
                </a:solidFill>
              </a:rPr>
              <a:t>Implementation </a:t>
            </a:r>
          </a:p>
          <a:p>
            <a:r>
              <a:rPr lang="en-US" b="1" dirty="0">
                <a:solidFill>
                  <a:schemeClr val="tx1"/>
                </a:solidFill>
              </a:rPr>
              <a:t>Evaluation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Assessment of training needs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Organizational analysis</a:t>
            </a:r>
          </a:p>
          <a:p>
            <a:r>
              <a:rPr lang="en-US" dirty="0">
                <a:solidFill>
                  <a:schemeClr val="tx1"/>
                </a:solidFill>
              </a:rPr>
              <a:t>Departmental analysis</a:t>
            </a:r>
          </a:p>
          <a:p>
            <a:r>
              <a:rPr lang="en-US" dirty="0">
                <a:solidFill>
                  <a:schemeClr val="tx1"/>
                </a:solidFill>
              </a:rPr>
              <a:t>Job /role analysis</a:t>
            </a:r>
          </a:p>
          <a:p>
            <a:r>
              <a:rPr lang="en-US" dirty="0">
                <a:solidFill>
                  <a:schemeClr val="tx1"/>
                </a:solidFill>
              </a:rPr>
              <a:t>Employee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Assessment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Organizational requirement </a:t>
            </a:r>
          </a:p>
          <a:p>
            <a:r>
              <a:rPr lang="en-US" dirty="0">
                <a:solidFill>
                  <a:schemeClr val="tx1"/>
                </a:solidFill>
              </a:rPr>
              <a:t>Department requirement</a:t>
            </a:r>
          </a:p>
          <a:p>
            <a:r>
              <a:rPr lang="en-US" dirty="0">
                <a:solidFill>
                  <a:schemeClr val="tx1"/>
                </a:solidFill>
              </a:rPr>
              <a:t>Job specifications and employee specification </a:t>
            </a:r>
          </a:p>
          <a:p>
            <a:r>
              <a:rPr lang="en-US" dirty="0">
                <a:solidFill>
                  <a:schemeClr val="tx1"/>
                </a:solidFill>
              </a:rPr>
              <a:t>Identifying specific problems </a:t>
            </a:r>
          </a:p>
          <a:p>
            <a:r>
              <a:rPr lang="en-US" dirty="0">
                <a:solidFill>
                  <a:schemeClr val="tx1"/>
                </a:solidFill>
              </a:rPr>
              <a:t>Anticipating future problems </a:t>
            </a:r>
          </a:p>
          <a:p>
            <a:r>
              <a:rPr lang="en-US" dirty="0">
                <a:solidFill>
                  <a:schemeClr val="tx1"/>
                </a:solidFill>
              </a:rPr>
              <a:t>Management’ s request </a:t>
            </a:r>
          </a:p>
          <a:p>
            <a:r>
              <a:rPr lang="en-US" dirty="0">
                <a:solidFill>
                  <a:schemeClr val="tx1"/>
                </a:solidFill>
              </a:rPr>
              <a:t>Observation </a:t>
            </a:r>
          </a:p>
          <a:p>
            <a:r>
              <a:rPr lang="en-US" dirty="0">
                <a:solidFill>
                  <a:schemeClr val="tx1"/>
                </a:solidFill>
              </a:rPr>
              <a:t>Interview </a:t>
            </a:r>
          </a:p>
          <a:p>
            <a:r>
              <a:rPr lang="en-US" dirty="0">
                <a:solidFill>
                  <a:schemeClr val="tx1"/>
                </a:solidFill>
              </a:rPr>
              <a:t>Group conference </a:t>
            </a:r>
          </a:p>
          <a:p>
            <a:r>
              <a:rPr lang="en-US" dirty="0">
                <a:solidFill>
                  <a:schemeClr val="tx1"/>
                </a:solidFill>
              </a:rPr>
              <a:t>Questionnaire surveys </a:t>
            </a:r>
          </a:p>
          <a:p>
            <a:r>
              <a:rPr lang="en-US" dirty="0">
                <a:solidFill>
                  <a:schemeClr val="tx1"/>
                </a:solidFill>
              </a:rPr>
              <a:t>Test or examination </a:t>
            </a:r>
          </a:p>
          <a:p>
            <a:r>
              <a:rPr lang="en-US" dirty="0">
                <a:solidFill>
                  <a:schemeClr val="tx1"/>
                </a:solidFill>
              </a:rPr>
              <a:t> checklist </a:t>
            </a:r>
          </a:p>
          <a:p>
            <a:r>
              <a:rPr lang="en-US" dirty="0">
                <a:solidFill>
                  <a:schemeClr val="tx1"/>
                </a:solidFill>
              </a:rPr>
              <a:t>Performance appraisal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content for different categories of employees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Supervisor training </a:t>
            </a:r>
          </a:p>
          <a:p>
            <a:r>
              <a:rPr lang="en-US" dirty="0"/>
              <a:t>Sales training </a:t>
            </a:r>
          </a:p>
          <a:p>
            <a:r>
              <a:rPr lang="en-US" dirty="0"/>
              <a:t>Clerical training </a:t>
            </a:r>
          </a:p>
          <a:p>
            <a:r>
              <a:rPr lang="en-US" dirty="0"/>
              <a:t>Learning and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US" dirty="0"/>
              <a:t>Designing the training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Instructional objectives</a:t>
            </a:r>
          </a:p>
          <a:p>
            <a:r>
              <a:rPr lang="en-US" dirty="0"/>
              <a:t>Learning principles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All human being can learn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An individual must be motivated to learn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Learning is active but not passive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Learners may acquire knowledge more rapidly with guidance .Feedback ensures improvement in speed and accuracy of learning.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Learning methods should be varied . Variety of methods should be introduced to off- set fatigue and boredom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553480" cy="6143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Learning principles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85860"/>
            <a:ext cx="8686800" cy="479426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6"/>
            </a:pPr>
            <a:r>
              <a:rPr lang="en-US" dirty="0"/>
              <a:t>Time must be provided to practice learning</a:t>
            </a:r>
          </a:p>
          <a:p>
            <a:pPr marL="514350" indent="-514350">
              <a:buFont typeface="+mj-lt"/>
              <a:buAutoNum type="arabicParenR" startAt="6"/>
            </a:pPr>
            <a:r>
              <a:rPr lang="en-US" dirty="0"/>
              <a:t>Different level of learning exist </a:t>
            </a:r>
          </a:p>
          <a:p>
            <a:pPr marL="514350" indent="-514350">
              <a:buFont typeface="+mj-lt"/>
              <a:buAutoNum type="arabicParenR" startAt="6"/>
            </a:pPr>
            <a:r>
              <a:rPr lang="en-US" dirty="0"/>
              <a:t>The learner must secure satisfaction from learning . Education must fulfils human needs,</a:t>
            </a:r>
          </a:p>
          <a:p>
            <a:pPr marL="514350" indent="-514350">
              <a:buNone/>
            </a:pPr>
            <a:r>
              <a:rPr lang="en-US" dirty="0"/>
              <a:t>     desires and expectations 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dirty="0"/>
              <a:t>Standards of performance should be set for the learner 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dirty="0"/>
              <a:t>Learning should be a goal oriented 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dirty="0"/>
              <a:t>Accuracy deserves generally more emphasis than speed 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dirty="0"/>
              <a:t>Learning is closely related to attention and concentration 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dirty="0"/>
              <a:t>Learning involves long run retention and concentration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196290" cy="542908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patterns </a:t>
            </a:r>
          </a:p>
        </p:txBody>
      </p:sp>
      <p:pic>
        <p:nvPicPr>
          <p:cNvPr id="6" name="Content Placeholder 5" descr="IMG_20230915_07253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71546"/>
            <a:ext cx="8991600" cy="5786453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learning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87523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Leaning is a continuous process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People learn through their actual personal experience , simulated experience and from others experience 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People learn step by step from known to unknown and simple to complex 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There is need for repetition in teaching to improve skill and learn perfectly 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Practice makes a man perfect . Hence opportunity should be created to use , transfer the skill , knowledge and abilities acquired through learning .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Learning gives satisfaction to the learner 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itchFamily="34" charset="0"/>
              </a:rPr>
              <a:t>Conflict in learning  . It arises when trainer knows or has developed some habits which are incorrect in terms of the method being learned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IMG_20230915_072727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solidFill>
            <a:schemeClr val="bg1"/>
          </a:solidFill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Learning problems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0895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Lack of knowledge , skill , aptitude and favorable attitude </a:t>
            </a:r>
          </a:p>
          <a:p>
            <a:r>
              <a:rPr lang="en-US" dirty="0"/>
              <a:t>Knowledge and skill not being applied </a:t>
            </a:r>
          </a:p>
          <a:p>
            <a:r>
              <a:rPr lang="en-US" dirty="0"/>
              <a:t>Existence of anti – learning factors :most operational situation contain a number of elements which will restrict the development of learning regardless the methods employed </a:t>
            </a:r>
          </a:p>
          <a:p>
            <a:r>
              <a:rPr lang="en-US" dirty="0"/>
              <a:t>Psychological problems like fear and shyness</a:t>
            </a:r>
          </a:p>
          <a:p>
            <a:r>
              <a:rPr lang="en-US" dirty="0"/>
              <a:t>Inability to  transfer of learning to operational situation </a:t>
            </a:r>
          </a:p>
          <a:p>
            <a:r>
              <a:rPr lang="en-US" dirty="0"/>
              <a:t>Heavy dependence on repetition, demonstration and practice </a:t>
            </a:r>
          </a:p>
          <a:p>
            <a:r>
              <a:rPr lang="en-US" dirty="0"/>
              <a:t>Unwillingness to change </a:t>
            </a:r>
          </a:p>
          <a:p>
            <a:r>
              <a:rPr lang="en-US" dirty="0"/>
              <a:t>Lack of interest about the knowledge of results </a:t>
            </a:r>
          </a:p>
          <a:p>
            <a:r>
              <a:rPr lang="en-US" dirty="0"/>
              <a:t>Absence of self – motivation </a:t>
            </a:r>
          </a:p>
          <a:p>
            <a:r>
              <a:rPr lang="en-US" dirty="0"/>
              <a:t>Negative attitude about involvement and participation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Teaching principles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30383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The employees must be taught to practice only the correct method of work </a:t>
            </a:r>
          </a:p>
          <a:p>
            <a:r>
              <a:rPr lang="en-US" dirty="0"/>
              <a:t>Job analysis and motion study techniques should be used .</a:t>
            </a:r>
          </a:p>
          <a:p>
            <a:r>
              <a:rPr lang="en-US" dirty="0"/>
              <a:t>Job training under actual working conditions should be preferred to classroom training </a:t>
            </a:r>
          </a:p>
          <a:p>
            <a:r>
              <a:rPr lang="en-US" dirty="0"/>
              <a:t>Emphasis should be given more on accuracy then speed </a:t>
            </a:r>
          </a:p>
          <a:p>
            <a:r>
              <a:rPr lang="en-US" dirty="0"/>
              <a:t>Teaching should be different time intervals</a:t>
            </a:r>
          </a:p>
          <a:p>
            <a:r>
              <a:rPr lang="en-US" dirty="0"/>
              <a:t>Follow the principle of best movement of work </a:t>
            </a:r>
          </a:p>
          <a:p>
            <a:r>
              <a:rPr lang="en-US" dirty="0"/>
              <a:t>Job training under actual working conditions is superior to classroom and formal training </a:t>
            </a:r>
          </a:p>
          <a:p>
            <a:r>
              <a:rPr lang="en-US" dirty="0"/>
              <a:t>It should be recognized that it is easier to train young workers than old workers due to their decreasing adaptability with the increase in age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Principles of training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Motivation </a:t>
            </a:r>
          </a:p>
          <a:p>
            <a:r>
              <a:rPr lang="en-US" dirty="0"/>
              <a:t>Progress information </a:t>
            </a:r>
          </a:p>
          <a:p>
            <a:r>
              <a:rPr lang="en-US" dirty="0"/>
              <a:t>Reinforcement </a:t>
            </a:r>
          </a:p>
          <a:p>
            <a:r>
              <a:rPr lang="en-US" dirty="0"/>
              <a:t>Practice </a:t>
            </a:r>
          </a:p>
          <a:p>
            <a:r>
              <a:rPr lang="en-US" dirty="0"/>
              <a:t>Full v/s part </a:t>
            </a:r>
          </a:p>
          <a:p>
            <a:r>
              <a:rPr lang="en-US" dirty="0"/>
              <a:t>Individual differences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Areas of training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Company policies and procedures </a:t>
            </a:r>
          </a:p>
          <a:p>
            <a:r>
              <a:rPr lang="en-US" dirty="0"/>
              <a:t>Specific skills </a:t>
            </a:r>
          </a:p>
          <a:p>
            <a:r>
              <a:rPr lang="en-US" dirty="0"/>
              <a:t>Human relations </a:t>
            </a:r>
          </a:p>
          <a:p>
            <a:r>
              <a:rPr lang="en-US" dirty="0"/>
              <a:t>Problem solving </a:t>
            </a:r>
          </a:p>
          <a:p>
            <a:r>
              <a:rPr lang="en-US" dirty="0"/>
              <a:t> managerial and supervisory skill </a:t>
            </a:r>
          </a:p>
          <a:p>
            <a:r>
              <a:rPr lang="en-US" dirty="0"/>
              <a:t>Apprentice training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 startAt="3"/>
            </a:pPr>
            <a:r>
              <a:rPr lang="en-US" dirty="0"/>
              <a:t>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7298"/>
            <a:ext cx="8686800" cy="4722827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Training methods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2214554"/>
          <a:ext cx="8143932" cy="3571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On the job methods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 the job methods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Job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Vestibule training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Coaching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playing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Job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 method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  <a:r>
                        <a:rPr lang="en-US" baseline="0" dirty="0"/>
                        <a:t> through step by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Conference or discussion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Committee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Programmed instruction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7">
                <a:tc>
                  <a:txBody>
                    <a:bodyPr/>
                    <a:lstStyle/>
                    <a:p>
                      <a:r>
                        <a:rPr lang="en-US" dirty="0"/>
                        <a:t>Internship training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– visual</a:t>
                      </a:r>
                      <a:r>
                        <a:rPr lang="en-US" baseline="0" dirty="0"/>
                        <a:t> method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43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based training and e- learning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conduct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Preparing the instructor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Preparing the trainee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Getting ready to teach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Presenting the operation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Try out the trainee’s performance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Follow –up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 startAt="4"/>
            </a:pPr>
            <a:r>
              <a:rPr lang="en-US" dirty="0"/>
              <a:t>Evaluation of training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Training program should be evaluated to correct the shortcomings and improve further.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can be done in following ways 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Reactions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Learning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Job behavior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Organization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Ultimate value 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Advantages of training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Increased productivity </a:t>
            </a:r>
          </a:p>
          <a:p>
            <a:r>
              <a:rPr lang="en-US" dirty="0" err="1">
                <a:solidFill>
                  <a:schemeClr val="tx1"/>
                </a:solidFill>
              </a:rPr>
              <a:t>Hightened</a:t>
            </a:r>
            <a:r>
              <a:rPr lang="en-US" dirty="0">
                <a:solidFill>
                  <a:schemeClr val="tx1"/>
                </a:solidFill>
              </a:rPr>
              <a:t> morale </a:t>
            </a:r>
          </a:p>
          <a:p>
            <a:r>
              <a:rPr lang="en-US" dirty="0">
                <a:solidFill>
                  <a:schemeClr val="tx1"/>
                </a:solidFill>
              </a:rPr>
              <a:t>Reduced supervision </a:t>
            </a:r>
          </a:p>
          <a:p>
            <a:r>
              <a:rPr lang="en-US" dirty="0">
                <a:solidFill>
                  <a:schemeClr val="tx1"/>
                </a:solidFill>
              </a:rPr>
              <a:t>Reduced accidents </a:t>
            </a:r>
          </a:p>
          <a:p>
            <a:r>
              <a:rPr lang="en-US" dirty="0">
                <a:solidFill>
                  <a:schemeClr val="tx1"/>
                </a:solidFill>
              </a:rPr>
              <a:t>Increased organizational stability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Essential  ingredients for successful 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Basis for evaluation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Production factor general observation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Human resource factor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Performance test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Cost – value relationship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Feedback 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Special aspects of training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Orientation training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Basic skills training – reading , writing computing, speaking , listening ,problem solving , managing one self ,knowing how to learn ,leadership skill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Team training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Process skill - meeting , problem solving , brainstorming , decision making , negotiating ,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    goal setting ,presentation ,process analysis , task evaluation ,customer analysis ,project planning , creativity , information management 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Behavior skill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Member communication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Conflict resolution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Building trust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Establishing norms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Handing difficult member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Diversity awareness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Team development stages – forming ,storming </a:t>
            </a:r>
            <a:r>
              <a:rPr lang="en-US" dirty="0" err="1">
                <a:solidFill>
                  <a:schemeClr val="tx1"/>
                </a:solidFill>
              </a:rPr>
              <a:t>norming</a:t>
            </a:r>
            <a:r>
              <a:rPr lang="en-US" dirty="0">
                <a:solidFill>
                  <a:schemeClr val="tx1"/>
                </a:solidFill>
              </a:rPr>
              <a:t> and performing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Team issues / concerns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Team benefits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Features of good team 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Diversity training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Employees are of diverse background bring varied of knowledge that helps the organization in making accurate decisions 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Characteristics of effective diversity program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 the diversity training to organizational strategies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Engage qualified and experienced trainer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appropriate method of training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Managers must be accountable for achieving the goals of the training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 individual and organization benefits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95731" y="2967335"/>
            <a:ext cx="33479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297</TotalTime>
  <Words>1317</Words>
  <Application>Microsoft Office PowerPoint</Application>
  <PresentationFormat>On-screen Show (4:3)</PresentationFormat>
  <Paragraphs>229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Trebuchet MS</vt:lpstr>
      <vt:lpstr>Wingdings</vt:lpstr>
      <vt:lpstr>Wingdings 3</vt:lpstr>
      <vt:lpstr>Facet</vt:lpstr>
      <vt:lpstr>CHAPTER 1 Training </vt:lpstr>
      <vt:lpstr>Meaning of training</vt:lpstr>
      <vt:lpstr>PowerPoint Presentation</vt:lpstr>
      <vt:lpstr>Benefits of training</vt:lpstr>
      <vt:lpstr>Benefits to individual</vt:lpstr>
      <vt:lpstr>Benefits in human relations , intra  and intergroup relations </vt:lpstr>
      <vt:lpstr>Need for training</vt:lpstr>
      <vt:lpstr>Training objectives</vt:lpstr>
      <vt:lpstr>Steps  in training</vt:lpstr>
      <vt:lpstr>Assessment of training needs </vt:lpstr>
      <vt:lpstr>Assessment methods </vt:lpstr>
      <vt:lpstr>Training content for different categories of employees</vt:lpstr>
      <vt:lpstr>Designing the training program </vt:lpstr>
      <vt:lpstr>Learning principles </vt:lpstr>
      <vt:lpstr>Learning patterns </vt:lpstr>
      <vt:lpstr>Characteristics of learning process</vt:lpstr>
      <vt:lpstr>PowerPoint Presentation</vt:lpstr>
      <vt:lpstr>Learning problems </vt:lpstr>
      <vt:lpstr>Teaching principles </vt:lpstr>
      <vt:lpstr>Principles of training </vt:lpstr>
      <vt:lpstr>Areas of training </vt:lpstr>
      <vt:lpstr>Implementation </vt:lpstr>
      <vt:lpstr>Training conduct </vt:lpstr>
      <vt:lpstr>Evaluation of training program </vt:lpstr>
      <vt:lpstr>Advantages of training </vt:lpstr>
      <vt:lpstr>Essential  ingredients for successful evaluation </vt:lpstr>
      <vt:lpstr>Special aspects of training </vt:lpstr>
      <vt:lpstr>Behavior skill </vt:lpstr>
      <vt:lpstr>Diversity training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Jatin Krishankumar Sharma</cp:lastModifiedBy>
  <cp:revision>39</cp:revision>
  <dcterms:created xsi:type="dcterms:W3CDTF">2023-09-10T09:13:00Z</dcterms:created>
  <dcterms:modified xsi:type="dcterms:W3CDTF">2026-08-23T12:12:39Z</dcterms:modified>
</cp:coreProperties>
</file>